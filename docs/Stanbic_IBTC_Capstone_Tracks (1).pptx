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47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D4AF37"/>
          </a:solidFill>
        </p:spPr>
      </p:sp>
      <p:pic>
        <p:nvPicPr>
          <p:cNvPr id="5" name="Image 0" descr="icon_b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08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STANBIC IBTC GRADUATE TRAINEE PROGRAMME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0574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Capstone Project Tracks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tracks. Two capstone options each. Choose the challenge your team will build.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4160520"/>
            <a:ext cx="566928" cy="566928"/>
          </a:xfrm>
          <a:prstGeom prst="ellipse">
            <a:avLst/>
          </a:prstGeom>
          <a:solidFill>
            <a:srgbClr val="141B4D"/>
          </a:solidFill>
        </p:spPr>
      </p:sp>
      <p:pic>
        <p:nvPicPr>
          <p:cNvPr id="10" name="Image 1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430792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" y="4818888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383280" y="4160520"/>
            <a:ext cx="566928" cy="566928"/>
          </a:xfrm>
          <a:prstGeom prst="ellipse">
            <a:avLst/>
          </a:prstGeom>
          <a:solidFill>
            <a:srgbClr val="141B4D"/>
          </a:solidFill>
        </p:spPr>
      </p:sp>
      <p:pic>
        <p:nvPicPr>
          <p:cNvPr id="13" name="Image 2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0681" y="430792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63240" y="4818888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 Security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26480" y="4160520"/>
            <a:ext cx="566928" cy="566928"/>
          </a:xfrm>
          <a:prstGeom prst="ellipse">
            <a:avLst/>
          </a:prstGeom>
          <a:solidFill>
            <a:srgbClr val="141B4D"/>
          </a:solidFill>
        </p:spPr>
      </p:sp>
      <p:pic>
        <p:nvPicPr>
          <p:cNvPr id="16" name="Image 3" descr="icon_pl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3881" y="430792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806440" y="4818888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&amp; Digital Platform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869680" y="4160520"/>
            <a:ext cx="566928" cy="566928"/>
          </a:xfrm>
          <a:prstGeom prst="ellipse">
            <a:avLst/>
          </a:prstGeom>
          <a:solidFill>
            <a:srgbClr val="141B4D"/>
          </a:solidFill>
        </p:spPr>
      </p:sp>
      <p:pic>
        <p:nvPicPr>
          <p:cNvPr id="19" name="Image 4" descr="icon_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7081" y="4307921"/>
            <a:ext cx="272125" cy="27212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549640" y="4818888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Engineering &amp; AI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one track  •  Pick one capstone within 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457200" y="256032"/>
            <a:ext cx="731520" cy="731520"/>
          </a:xfrm>
          <a:prstGeom prst="ellipse">
            <a:avLst/>
          </a:prstGeom>
          <a:solidFill>
            <a:srgbClr val="D4AF37"/>
          </a:solidFill>
        </p:spPr>
      </p:sp>
      <p:pic>
        <p:nvPicPr>
          <p:cNvPr id="4" name="Image 0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446227"/>
            <a:ext cx="351130" cy="3511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Engineering Track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731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ONE capstone below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109960" y="16459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5440680" cy="507492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76479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0" name="Text 7"/>
          <p:cNvSpPr txBox="1"/>
          <p:nvPr/>
        </p:nvSpPr>
        <p:spPr>
          <a:xfrm>
            <a:off x="731520" y="176479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221992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AI-Powered Customer Churn Prediction &amp; Retention Platform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04495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  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273552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Proactively identify customers likely to close accounts, drop digital channels, or switch to competitors.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90448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deliverables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16052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lake architecture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ETL / data pipeline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 prediction model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dashboard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recommendation engine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57784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833872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customer retention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Increased cross-selling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customer experience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217920" y="1508760"/>
            <a:ext cx="5440680" cy="507492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92240" y="176479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0" name="Text 17"/>
          <p:cNvSpPr txBox="1"/>
          <p:nvPr/>
        </p:nvSpPr>
        <p:spPr>
          <a:xfrm>
            <a:off x="6492240" y="176479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 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2221992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AI-Powered Loan Risk Assessment &amp; Early Warning System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304495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  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3273552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high-risk loan customers before default occurs.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390448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deliverables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16052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warehouse design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risk prediction model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Alerting dashboard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monitoring reports</a:t>
            </a:r>
            <a:endParaRPr lang="en-US" sz="108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557784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5833872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non-performing loans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credit decisions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intervention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457200" y="256032"/>
            <a:ext cx="731520" cy="731520"/>
          </a:xfrm>
          <a:prstGeom prst="ellipse">
            <a:avLst/>
          </a:prstGeom>
          <a:solidFill>
            <a:srgbClr val="D4AF37"/>
          </a:solidFill>
        </p:spPr>
      </p:sp>
      <p:pic>
        <p:nvPicPr>
          <p:cNvPr id="4" name="Image 0" descr="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446227"/>
            <a:ext cx="351130" cy="3511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Cyber Security Track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731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ONE capstone below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109960" y="16459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5440680" cy="507492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76479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0" name="Text 7"/>
          <p:cNvSpPr txBox="1"/>
          <p:nvPr/>
        </p:nvSpPr>
        <p:spPr>
          <a:xfrm>
            <a:off x="731520" y="176479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221992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Banking Security Operations Center (SOC) Dashboard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04495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  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273552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teams need centralized visibility into threats across banking systems.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90448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deliverables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16052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SIEM architecture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detection rules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response workflow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security dashboard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57784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833872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threat detection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incident response time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cyber resilience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217920" y="1508760"/>
            <a:ext cx="5440680" cy="507492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92240" y="176479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0" name="Text 17"/>
          <p:cNvSpPr txBox="1"/>
          <p:nvPr/>
        </p:nvSpPr>
        <p:spPr>
          <a:xfrm>
            <a:off x="6492240" y="176479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 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2221992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Insider Threat Detection for Financial Institutions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304495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  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3273552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Unauthorized access to sensitive customer and financial information.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390448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deliverables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16052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Behavior Analytics (UBA) solution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scoring engine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investigation dashboard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reporting</a:t>
            </a:r>
            <a:endParaRPr lang="en-US" sz="108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557784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5833872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insider threats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regulatory compliance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data protection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457200" y="256032"/>
            <a:ext cx="731520" cy="731520"/>
          </a:xfrm>
          <a:prstGeom prst="ellipse">
            <a:avLst/>
          </a:prstGeom>
          <a:solidFill>
            <a:srgbClr val="D4AF37"/>
          </a:solidFill>
        </p:spPr>
      </p:sp>
      <p:pic>
        <p:nvPicPr>
          <p:cNvPr id="4" name="Image 0" descr="icon_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446227"/>
            <a:ext cx="351130" cy="3511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API &amp; Digital Platform Engineering Track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731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ONE capstone below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109960" y="16459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5440680" cy="507492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76479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0" name="Text 7"/>
          <p:cNvSpPr txBox="1"/>
          <p:nvPr/>
        </p:nvSpPr>
        <p:spPr>
          <a:xfrm>
            <a:off x="731520" y="176479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221992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Open Banking API Marketplace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04495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  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273552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Fintechs and partners need secure integration with banking services.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90448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deliverables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16052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Gateway implementation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 portal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&amp; authorization framework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analytics dashboard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57784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833872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Increased fintech partnerships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revenue opportunities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innovation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217920" y="1508760"/>
            <a:ext cx="5440680" cy="507492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92240" y="176479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0" name="Text 17"/>
          <p:cNvSpPr txBox="1"/>
          <p:nvPr/>
        </p:nvSpPr>
        <p:spPr>
          <a:xfrm>
            <a:off x="6492240" y="176479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 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2221992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Unified Customer Digital Onboarding Platform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304495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  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3273552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 opening processes remain fragmented across channels.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390448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deliverables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16052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architecture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engine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Mobile/web onboarding portal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system integration</a:t>
            </a:r>
            <a:endParaRPr lang="en-US" sz="108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557784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5833872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customer acquisition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customer experience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onboarding costs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457200" y="256032"/>
            <a:ext cx="731520" cy="731520"/>
          </a:xfrm>
          <a:prstGeom prst="ellipse">
            <a:avLst/>
          </a:prstGeom>
          <a:solidFill>
            <a:srgbClr val="D4AF37"/>
          </a:solidFill>
        </p:spPr>
      </p:sp>
      <p:pic>
        <p:nvPicPr>
          <p:cNvPr id="4" name="Image 0" descr="icon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446227"/>
            <a:ext cx="351130" cy="3511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 Engineering &amp; AI Track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731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ONE capstone below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109960" y="16459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5440680" cy="507492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76479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0" name="Text 7"/>
          <p:cNvSpPr txBox="1"/>
          <p:nvPr/>
        </p:nvSpPr>
        <p:spPr>
          <a:xfrm>
            <a:off x="731520" y="176479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221992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Cloud-Native Disaster Recovery Platform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04495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  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273552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Banking services must remain available during outages.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90448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deliverables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16052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architecture diagram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Infrastructure as Code (IaC)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recovery runbook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solution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57784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833872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business continuity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downtime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regulatory preparedness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217920" y="1508760"/>
            <a:ext cx="5440680" cy="507492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92240" y="176479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0" name="Text 17"/>
          <p:cNvSpPr txBox="1"/>
          <p:nvPr/>
        </p:nvSpPr>
        <p:spPr>
          <a:xfrm>
            <a:off x="6492240" y="176479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 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2221992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Enterprise Banking Data Lake on Cloud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304495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  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3273552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units struggle with fragmented data.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390448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deliverables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16052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data architecture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ingestion pipelines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&amp; governance framework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dashboards</a:t>
            </a:r>
            <a:endParaRPr lang="en-US" sz="108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557784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5833872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decision-making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analytics environment</a:t>
            </a:r>
            <a:endParaRPr lang="en-US" sz="108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8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AI adoption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Presentation Guidance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team presents each of the following for their chosen capstone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37944"/>
            <a:ext cx="457200" cy="45720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6" name="Text 4"/>
          <p:cNvSpPr txBox="1"/>
          <p:nvPr/>
        </p:nvSpPr>
        <p:spPr>
          <a:xfrm>
            <a:off x="640080" y="18379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783080"/>
            <a:ext cx="47274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9" name="Text 7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624328"/>
            <a:ext cx="47274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Challenges at a Bank Like Stanbic IBTC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3465576"/>
            <a:ext cx="47274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 Architecture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361688"/>
            <a:ext cx="457200" cy="45720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5" name="Text 13"/>
          <p:cNvSpPr txBox="1"/>
          <p:nvPr/>
        </p:nvSpPr>
        <p:spPr>
          <a:xfrm>
            <a:off x="640080" y="4361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4306824"/>
            <a:ext cx="47274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&amp; Compliance Considerations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457200" cy="45720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8" name="Text 16"/>
          <p:cNvSpPr txBox="1"/>
          <p:nvPr/>
        </p:nvSpPr>
        <p:spPr>
          <a:xfrm>
            <a:off x="640080" y="5202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148072"/>
            <a:ext cx="47274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92240" y="1837944"/>
            <a:ext cx="457200" cy="45720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21" name="Text 19"/>
          <p:cNvSpPr txBox="1"/>
          <p:nvPr/>
        </p:nvSpPr>
        <p:spPr>
          <a:xfrm>
            <a:off x="6492240" y="18379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1783080"/>
            <a:ext cx="47274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Cost-Benefit Analysis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92240" y="2679192"/>
            <a:ext cx="457200" cy="45720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24" name="Text 22"/>
          <p:cNvSpPr txBox="1"/>
          <p:nvPr/>
        </p:nvSpPr>
        <p:spPr>
          <a:xfrm>
            <a:off x="6492240" y="26791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14032" y="2624328"/>
            <a:ext cx="47274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Roadmap (30/60/90 Days)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92240" y="3520440"/>
            <a:ext cx="457200" cy="45720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27" name="Text 25"/>
          <p:cNvSpPr txBox="1"/>
          <p:nvPr/>
        </p:nvSpPr>
        <p:spPr>
          <a:xfrm>
            <a:off x="6492240" y="3520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114032" y="3465576"/>
            <a:ext cx="47274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Business Outcomes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92240" y="4361688"/>
            <a:ext cx="457200" cy="45720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30" name="Text 28"/>
          <p:cNvSpPr txBox="1"/>
          <p:nvPr/>
        </p:nvSpPr>
        <p:spPr>
          <a:xfrm>
            <a:off x="6492240" y="4361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14032" y="4306824"/>
            <a:ext cx="47274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Risks and Mitigation Plans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492240" y="5202936"/>
            <a:ext cx="457200" cy="45720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33" name="Text 31"/>
          <p:cNvSpPr txBox="1"/>
          <p:nvPr/>
        </p:nvSpPr>
        <p:spPr>
          <a:xfrm>
            <a:off x="6492240" y="5202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114032" y="5148072"/>
            <a:ext cx="47274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 or Prototype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Office PowerPoint</Application>
  <PresentationFormat>Widescreen</PresentationFormat>
  <Paragraphs>153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Onyekachi Kaduru</cp:lastModifiedBy>
  <cp:revision>4</cp:revision>
  <dcterms:created xsi:type="dcterms:W3CDTF">2026-09-11T14:22:00Z</dcterms:created>
  <dcterms:modified xsi:type="dcterms:W3CDTF">2026-09-12T09:30:22Z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08C352EFE61D4051B19FA0B2A580ADA9_12</vt:lpwstr>
  </property>
  <property fmtid="{D5CDD505-2E9C-101B-9397-08002B2CF9AE}" pid="3" name="KSOProductBuildVer">
    <vt:lpwstr>2057-12.2.0.23206</vt:lpwstr>
  </property>
</Properties>
</file>